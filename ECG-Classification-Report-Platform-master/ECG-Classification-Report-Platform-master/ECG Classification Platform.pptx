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40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15614" y="2310854"/>
            <a:ext cx="616077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1F1F1F"/>
                </a:solidFill>
                <a:latin typeface="Plus Jakarta Sans"/>
              </a:rPr>
              <a:t>ECG Classification &amp;</a:t>
            </a:r>
            <a:r>
              <a:t>
</a:t>
            </a:r>
            <a:r>
              <a:rPr sz="4800" b="1" i="0" u="none">
                <a:solidFill>
                  <a:srgbClr val="DC2626"/>
                </a:solidFill>
                <a:latin typeface="Plus Jakarta Sans"/>
              </a:rPr>
              <a:t>Report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42295"/>
            <a:ext cx="76200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B7280"/>
                </a:solidFill>
                <a:latin typeface="Inter"/>
              </a:rPr>
              <a:t>An advanced automated machine learning pipeline and clinical reporting platform for rapid, accurate electrocardiogram analysis and cardiac health diagnostics.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547937"/>
            <a:ext cx="7620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60645" y="2824162"/>
            <a:ext cx="5670708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F1F1F"/>
                </a:solidFill>
                <a:latin typeface="Plus Jakarta Sans"/>
              </a:rPr>
              <a:t>The Clinical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681412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B7280"/>
                </a:solidFill>
                <a:latin typeface="Inter"/>
              </a:rPr>
              <a:t>Why cardiovascular diagnostics urgently need modernization, speed, and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95562"/>
            <a:ext cx="5334000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595562"/>
            <a:ext cx="5334000" cy="2400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8250" y="2938462"/>
            <a:ext cx="454056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1F1F1F"/>
                </a:solidFill>
                <a:latin typeface="Plus Jakarta Sans"/>
              </a:rPr>
              <a:t>Delayed Analysis &amp; Backlogs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7087"/>
            <a:ext cx="464820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Cardiologists and emergency physicians face overwhelming volumes of ECG traces daily. Manual interpretation is time-consuming, leading to delayed diagnoses in acute cardiac events where every second 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4675" y="2938462"/>
            <a:ext cx="4570571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1F1F1F"/>
                </a:solidFill>
                <a:latin typeface="Plus Jakarta Sans"/>
              </a:rPr>
              <a:t>Complex Reporting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367087"/>
            <a:ext cx="4648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Traditional diagnostic equipment outputs raw waveforms or fragmented readouts that lack standardized structuring, making patient history tracking, clinician collaboration, and secondary review difficult.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7656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976562"/>
            <a:ext cx="18097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99852" y="476250"/>
            <a:ext cx="1113639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The Diagnostic Bottleneck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85962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128837"/>
            <a:ext cx="5000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Automated Signal Processing: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Instantly ingests, filters, and normalizes raw ECG readings to eliminate noise and artifacts.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077" y="2900362"/>
            <a:ext cx="50006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ML-Powered Classification: 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A deep-learning SE-</a:t>
            </a:r>
            <a:r>
              <a:rPr sz="1350" i="0" u="none" dirty="0" err="1">
                <a:solidFill>
                  <a:srgbClr val="1F1F1F"/>
                </a:solidFill>
                <a:latin typeface="Inter"/>
              </a:rPr>
              <a:t>ResNet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 scores each recording across five diagnostic </a:t>
            </a:r>
            <a:r>
              <a:rPr sz="1350" i="0" u="none" dirty="0" err="1">
                <a:solidFill>
                  <a:srgbClr val="1F1F1F"/>
                </a:solidFill>
                <a:latin typeface="Inter"/>
              </a:rPr>
              <a:t>superclasses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 (NORM/MI/STTC/CD/HYP).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077" y="386238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Structured PDF Reports: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Auto-generates clean, professional diagnostic summary reports ready for physician sign-off.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077" y="4567237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Streamlined Workflow:</a:t>
            </a:r>
            <a:r>
              <a:rPr sz="1350" b="0" i="0" u="none" dirty="0">
                <a:solidFill>
                  <a:srgbClr val="4B5563"/>
                </a:solidFill>
                <a:latin typeface="Inter"/>
              </a:rPr>
              <a:t> Bridges the gap between raw signal capture and actionable clinical insights.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217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2" y="293370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2" y="389572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02" y="4600575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51872" y="508895"/>
            <a:ext cx="1109638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The Solution: Intelligent Platform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46F8D5-9B0E-49AF-8B41-49FB62C3A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280" y="1571568"/>
            <a:ext cx="5720080" cy="3714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05100"/>
            <a:ext cx="7620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65633" y="2981325"/>
            <a:ext cx="5860732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F1F1F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1300" y="3838575"/>
            <a:ext cx="66294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B7280"/>
                </a:solidFill>
                <a:latin typeface="Inter"/>
              </a:rPr>
              <a:t>A robust backend processing pipeline meets a clean user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6962"/>
            <a:ext cx="3492549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366962"/>
            <a:ext cx="3492549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366962"/>
            <a:ext cx="3492549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353" y="260985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51948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1F1F"/>
                </a:solidFill>
                <a:latin typeface="Plus Jakarta Sans"/>
              </a:rPr>
              <a:t>1. Ingestion &amp;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900487"/>
            <a:ext cx="29019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Signal filtering, baseline wandering removal, and normalization of lead inputs for reliable inference.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652" y="2609850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45074" y="351948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1F1F"/>
                </a:solidFill>
                <a:latin typeface="Plus Jakarta Sans"/>
              </a:rPr>
              <a:t>2. ML Classification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074" y="39004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A 1D SE-ResNet trained on PTB-XL scores each recording across five diagnostic superclasses.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8952" y="2609850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23374" y="351948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1F1F"/>
                </a:solidFill>
                <a:latin typeface="Plus Jakarta Sans"/>
              </a:rPr>
              <a:t>3. Report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374" y="39004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Automated synthesis of diagnostic findings, confidence scores, and waveforms into clean clinical documents.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1415" y="2771775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2577" y="2771775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83739" y="2771775"/>
            <a:ext cx="257175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06912" y="776287"/>
            <a:ext cx="1109638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System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985962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386012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Intuitive Navigation: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Designed for medical professionals with minimal training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90862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Instant Results: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Upload an ECG trace and receive classification metrics within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795712"/>
            <a:ext cx="5000625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Export &amp; Share: 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Download the one-page PDF report straight from the results 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500562"/>
            <a:ext cx="5000625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Analysis History: 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Past results are stored in SQLite and reloadable with one click.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85962"/>
            <a:ext cx="5334000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1935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420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29050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33900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37952" y="485140"/>
            <a:ext cx="1109638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Clinician-Centric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79868"/>
            <a:ext cx="4805660" cy="1895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1860868"/>
            <a:ext cx="404366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0" i="0" u="none">
                <a:solidFill>
                  <a:srgbClr val="FFFFFF"/>
                </a:solidFill>
                <a:latin typeface="Plus Jakarta Sans ExtraBold"/>
              </a:rPr>
              <a:t>21k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765743"/>
            <a:ext cx="40436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ECACA"/>
                </a:solidFill>
                <a:latin typeface="Inter SemiBold"/>
              </a:rPr>
              <a:t>PTB-XL TRAINING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3410" y="1475105"/>
            <a:ext cx="605544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1F1F1F"/>
                </a:solidFill>
                <a:latin typeface="Plus Jakarta Sans"/>
              </a:rPr>
              <a:t>Built for Speed and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3410" y="1951355"/>
            <a:ext cx="5767089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Our platform drastically cuts down manual sorting time, enabling faster triage in busy clinical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3410" y="2608580"/>
            <a:ext cx="576708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By automating the heavy lifting of pattern recognition, healthcare providers can dedicate more time to direct patient care and critical intervention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0172" y="530776"/>
            <a:ext cx="11136391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Performance &amp; Impact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14185-2AE4-4047-8D44-C8503E005E8C}"/>
              </a:ext>
            </a:extLst>
          </p:cNvPr>
          <p:cNvSpPr txBox="1"/>
          <p:nvPr/>
        </p:nvSpPr>
        <p:spPr>
          <a:xfrm>
            <a:off x="1353070" y="4716146"/>
            <a:ext cx="605544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1" i="0" u="none" dirty="0">
                <a:solidFill>
                  <a:srgbClr val="1F1F1F"/>
                </a:solidFill>
                <a:latin typeface="Plus Jakarta Sans"/>
              </a:rPr>
              <a:t>Model Results for Each Class</a:t>
            </a:r>
            <a:endParaRPr sz="2100" b="1" i="0" u="none" dirty="0">
              <a:solidFill>
                <a:srgbClr val="1F1F1F"/>
              </a:solidFill>
              <a:latin typeface="Plus Jakarta San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B69B06-92A8-4BC2-AFF5-BC6DA6A13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9" t="19527" r="67167" b="21080"/>
          <a:stretch/>
        </p:blipFill>
        <p:spPr>
          <a:xfrm>
            <a:off x="6177680" y="3886117"/>
            <a:ext cx="3811073" cy="2326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05100"/>
            <a:ext cx="76200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10576" y="2981325"/>
            <a:ext cx="6770846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F1F1F"/>
                </a:solidFill>
                <a:latin typeface="Plus Jakarta Sans"/>
              </a:rPr>
              <a:t>Development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57550" y="3838575"/>
            <a:ext cx="56769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B7280"/>
                </a:solidFill>
                <a:latin typeface="Inter"/>
              </a:rPr>
              <a:t>From hackathon prototype to scalable healthcare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55" y="3219450"/>
            <a:ext cx="28575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635" y="3219450"/>
            <a:ext cx="28575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316" y="3219450"/>
            <a:ext cx="28575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1996" y="3219450"/>
            <a:ext cx="2857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71800"/>
            <a:ext cx="2430660" cy="1838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4180" y="2971800"/>
            <a:ext cx="2430660" cy="1838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6860" y="2971800"/>
            <a:ext cx="2430660" cy="1838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541" y="2971800"/>
            <a:ext cx="2430660" cy="18383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23950" y="3271838"/>
            <a:ext cx="9944100" cy="381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720759" y="3648075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F1F1F"/>
                </a:solidFill>
                <a:latin typeface="Plus Jakarta Sans"/>
              </a:rPr>
              <a:t>Data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3962400"/>
            <a:ext cx="20306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B7280"/>
                </a:solidFill>
                <a:latin typeface="Inter"/>
              </a:rPr>
              <a:t>Dataset acquisition, noise filtration, and preprocessing pipelines.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440" y="3648075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F1F1F"/>
                </a:solidFill>
                <a:latin typeface="Plus Jakarta Sans"/>
              </a:rPr>
              <a:t>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4205" y="3962400"/>
            <a:ext cx="20306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B7280"/>
                </a:solidFill>
                <a:latin typeface="Inter"/>
              </a:rPr>
              <a:t>Training classifiers and optimizing metrics for high sensitivity.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6120" y="3648075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F1F1F"/>
                </a:solidFill>
                <a:latin typeface="Plus Jakarta Sans"/>
              </a:rPr>
              <a:t>App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6885" y="3962400"/>
            <a:ext cx="203061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B7280"/>
                </a:solidFill>
                <a:latin typeface="Inter"/>
              </a:rPr>
              <a:t>Building the report generation framework and web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801" y="3648075"/>
            <a:ext cx="213214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F1F1F"/>
                </a:solidFill>
                <a:latin typeface="Plus Jakarta Sans"/>
              </a:rPr>
              <a:t>Future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9566" y="3962400"/>
            <a:ext cx="203061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6B7280"/>
                </a:solidFill>
                <a:latin typeface="Inter"/>
              </a:rPr>
              <a:t>EHR integration, wearable streaming, and clinical pilot testing.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9510" y="424180"/>
            <a:ext cx="1109638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Project Milestones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466145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385183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Hospital System Integration:</a:t>
            </a:r>
            <a:r>
              <a:rPr sz="1350" b="0" i="0" u="none" dirty="0">
                <a:solidFill>
                  <a:srgbClr val="4B5563"/>
                </a:solidFill>
                <a:latin typeface="Inter"/>
              </a:rPr>
              <a:t> Seamlessly plug into existing Electronic Health Record (EHR) networks.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090033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Real-time Monitoring: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Expand support for wearable ECG streaming devices.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3794883"/>
            <a:ext cx="5000625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1F1F1F"/>
                </a:solidFill>
                <a:latin typeface="Inter"/>
              </a:rPr>
              <a:t>Finer-Grained Diagnoses: 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Extend beyond the five </a:t>
            </a:r>
            <a:r>
              <a:rPr sz="1350" i="0" u="none" dirty="0" err="1">
                <a:solidFill>
                  <a:srgbClr val="1F1F1F"/>
                </a:solidFill>
                <a:latin typeface="Inter"/>
              </a:rPr>
              <a:t>superclasses</a:t>
            </a:r>
            <a:r>
              <a:rPr sz="1350" i="0" u="none" dirty="0">
                <a:solidFill>
                  <a:srgbClr val="1F1F1F"/>
                </a:solidFill>
                <a:latin typeface="Inter"/>
              </a:rPr>
              <a:t> toward detailed PTB-XL findings.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499733"/>
            <a:ext cx="50006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1F1F1F"/>
                </a:solidFill>
                <a:latin typeface="Inter"/>
              </a:rPr>
              <a:t>Open Source Contribution:</a:t>
            </a:r>
            <a:r>
              <a:rPr sz="1350" b="0" i="0" u="none">
                <a:solidFill>
                  <a:srgbClr val="4B5563"/>
                </a:solidFill>
                <a:latin typeface="Inter"/>
              </a:rPr>
              <a:t> Empowering global researchers with transparent, accessible cardiac tools.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8521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337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28221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33071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1872" y="476250"/>
            <a:ext cx="11096386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50" b="1" i="0" u="none" dirty="0">
                <a:solidFill>
                  <a:srgbClr val="1F1F1F"/>
                </a:solidFill>
                <a:latin typeface="Plus Jakarta Sans"/>
              </a:rPr>
              <a:t>The Future Vision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259007-7937-4F8C-BA24-337A7C2DCF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960"/>
          <a:stretch/>
        </p:blipFill>
        <p:spPr>
          <a:xfrm>
            <a:off x="6201410" y="1973580"/>
            <a:ext cx="5504180" cy="34894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15790" y="2452687"/>
            <a:ext cx="336042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F1F1F"/>
                </a:solidFill>
                <a:latin typeface="Plus Jakarta Sa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66962" y="3357562"/>
            <a:ext cx="74580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B7280"/>
                </a:solidFill>
                <a:latin typeface="Inter"/>
              </a:rPr>
              <a:t>Ready to revolutionize cardiac diagnostics together. Questions &amp; Feedback?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4100512"/>
            <a:ext cx="161925" cy="1714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393880-643B-4034-95EF-51291656AC58}"/>
              </a:ext>
            </a:extLst>
          </p:cNvPr>
          <p:cNvSpPr/>
          <p:nvPr/>
        </p:nvSpPr>
        <p:spPr>
          <a:xfrm>
            <a:off x="3600450" y="403234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https://github.com/Hiba-Rafique/ECG-Classification-Report-Platform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520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Hiba R.</cp:lastModifiedBy>
  <cp:revision>3</cp:revision>
  <dcterms:created xsi:type="dcterms:W3CDTF">2013-01-27T09:14:16Z</dcterms:created>
  <dcterms:modified xsi:type="dcterms:W3CDTF">2026-09-07T17:45:52Z</dcterms:modified>
  <cp:category/>
</cp:coreProperties>
</file>